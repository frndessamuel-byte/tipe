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d0d17bf9e_0_1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3d0d17bf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d10175296_1_1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d10175296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d0d17bf9e_0_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d0d17bf9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d10175296_1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d1017529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d10175296_1_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d1017529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d10175296_1_2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d10175296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d10175296_1_42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3d10175296_1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3d10175296_1_3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3d10175296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3d10175296_1_4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3d10175296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9438ebec0_0_2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9438ebec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9438ebec0_0_3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69438ebec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9438ebec0_0_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69438ebe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3d10175296_1_5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3d10175296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3d10175296_1_38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3d10175296_1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6950033574_0_91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695003357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6950033574_0_10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695003357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950033574_0_6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695003357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6950033574_0_5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695003357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6950033574_0_24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6950033574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950033574_0_26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6950033574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950033574_0_12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695003357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6950033574_0_12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695003357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6950033574_0_13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695003357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950033574_0_14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695003357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6950033574_0_15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695003357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950033574_0_16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695003357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6950033574_0_17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695003357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6950033574_0_18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695003357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6950033574_0_20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695003357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6950033574_0_21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6950033574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6950033574_0_22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695003357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5.png"/><Relationship Id="rId13" Type="http://schemas.openxmlformats.org/officeDocument/2006/relationships/image" Target="../media/image10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3" Type="http://schemas.openxmlformats.org/officeDocument/2006/relationships/image" Target="../media/image16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7.png"/><Relationship Id="rId15" Type="http://schemas.openxmlformats.org/officeDocument/2006/relationships/image" Target="../media/image24.png"/><Relationship Id="rId14" Type="http://schemas.openxmlformats.org/officeDocument/2006/relationships/image" Target="../media/image29.png"/><Relationship Id="rId17" Type="http://schemas.openxmlformats.org/officeDocument/2006/relationships/image" Target="../media/image23.png"/><Relationship Id="rId16" Type="http://schemas.openxmlformats.org/officeDocument/2006/relationships/image" Target="../media/image36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18" Type="http://schemas.openxmlformats.org/officeDocument/2006/relationships/image" Target="../media/image28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Relationship Id="rId6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Relationship Id="rId4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png"/><Relationship Id="rId4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0.png"/><Relationship Id="rId4" Type="http://schemas.openxmlformats.org/officeDocument/2006/relationships/image" Target="../media/image6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7.png"/><Relationship Id="rId4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128100" y="136475"/>
            <a:ext cx="8887800" cy="87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>
                <a:solidFill>
                  <a:schemeClr val="lt1"/>
                </a:solidFill>
              </a:rPr>
              <a:t>TIPE 2025-2026 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700">
                <a:solidFill>
                  <a:schemeClr val="lt1"/>
                </a:solidFill>
              </a:rPr>
              <a:t>Cycles, boucles</a:t>
            </a:r>
            <a:r>
              <a:rPr b="1" lang="fr" sz="1700"/>
              <a:t>  </a:t>
            </a:r>
            <a:endParaRPr b="1" sz="17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877650" y="2542200"/>
            <a:ext cx="7416900" cy="1773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600">
                <a:solidFill>
                  <a:schemeClr val="dk1"/>
                </a:solidFill>
              </a:rPr>
              <a:t>Etude de l’influence des boucles de</a:t>
            </a:r>
            <a:r>
              <a:rPr b="1" lang="fr" sz="14600">
                <a:solidFill>
                  <a:schemeClr val="dk1"/>
                </a:solidFill>
              </a:rPr>
              <a:t> </a:t>
            </a:r>
            <a:r>
              <a:rPr b="1" lang="fr" sz="14600">
                <a:solidFill>
                  <a:schemeClr val="dk1"/>
                </a:solidFill>
              </a:rPr>
              <a:t>rétroaction négative sur les performances d’un robot </a:t>
            </a:r>
            <a:endParaRPr b="1" sz="14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5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25800" y="6217625"/>
            <a:ext cx="272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2"/>
                </a:solidFill>
              </a:rPr>
              <a:t>Samuel FERNANDES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Introduction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7908" y="6226297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2825904" y="3986600"/>
            <a:ext cx="442800" cy="61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2825992" y="4644975"/>
            <a:ext cx="442800" cy="61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2825904" y="5303350"/>
            <a:ext cx="442800" cy="61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" name="Google Shape;69;p14"/>
          <p:cNvCxnSpPr/>
          <p:nvPr/>
        </p:nvCxnSpPr>
        <p:spPr>
          <a:xfrm>
            <a:off x="367754" y="4974800"/>
            <a:ext cx="775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4"/>
          <p:cNvSpPr/>
          <p:nvPr/>
        </p:nvSpPr>
        <p:spPr>
          <a:xfrm>
            <a:off x="1142854" y="4577000"/>
            <a:ext cx="795600" cy="795600"/>
          </a:xfrm>
          <a:prstGeom prst="flowChartSummingJunction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1142854" y="4751675"/>
            <a:ext cx="1503000" cy="9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+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283729" y="4974800"/>
            <a:ext cx="6549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  -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73" name="Google Shape;73;p14"/>
          <p:cNvCxnSpPr/>
          <p:nvPr/>
        </p:nvCxnSpPr>
        <p:spPr>
          <a:xfrm flipH="1" rot="10800000">
            <a:off x="1538854" y="5372675"/>
            <a:ext cx="3600" cy="788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/>
          <p:nvPr/>
        </p:nvCxnSpPr>
        <p:spPr>
          <a:xfrm>
            <a:off x="1941329" y="4963050"/>
            <a:ext cx="9000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4"/>
          <p:cNvSpPr/>
          <p:nvPr/>
        </p:nvSpPr>
        <p:spPr>
          <a:xfrm>
            <a:off x="6642979" y="4645000"/>
            <a:ext cx="688800" cy="61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5172479" y="4520675"/>
            <a:ext cx="795600" cy="795600"/>
          </a:xfrm>
          <a:prstGeom prst="flowChartSummingJunction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5172479" y="4695350"/>
            <a:ext cx="1503000" cy="9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+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5313179" y="4461975"/>
            <a:ext cx="6549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  -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79" name="Google Shape;79;p14"/>
          <p:cNvCxnSpPr/>
          <p:nvPr/>
        </p:nvCxnSpPr>
        <p:spPr>
          <a:xfrm flipH="1" rot="10800000">
            <a:off x="5981493" y="4951423"/>
            <a:ext cx="6510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4"/>
          <p:cNvCxnSpPr/>
          <p:nvPr/>
        </p:nvCxnSpPr>
        <p:spPr>
          <a:xfrm>
            <a:off x="4407404" y="4951300"/>
            <a:ext cx="756000" cy="3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4"/>
          <p:cNvCxnSpPr/>
          <p:nvPr/>
        </p:nvCxnSpPr>
        <p:spPr>
          <a:xfrm flipH="1">
            <a:off x="5568479" y="3947188"/>
            <a:ext cx="3600" cy="558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4"/>
          <p:cNvCxnSpPr/>
          <p:nvPr/>
        </p:nvCxnSpPr>
        <p:spPr>
          <a:xfrm flipH="1" rot="10800000">
            <a:off x="1542454" y="6149100"/>
            <a:ext cx="60228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4"/>
          <p:cNvCxnSpPr/>
          <p:nvPr/>
        </p:nvCxnSpPr>
        <p:spPr>
          <a:xfrm>
            <a:off x="7554554" y="4974800"/>
            <a:ext cx="3600" cy="1177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mathml&quot;:&quot;&lt;math style=\&quot;font-family:stix;font-size:16px;\&quot; xmlns=\&quot;http://www.w3.org/1998/Math/MathML\&quot;&gt;&lt;mstyle mathsize=\&quot;16px\&quot;&gt;&lt;mfrac&gt;&lt;mi&gt;K&lt;/mi&gt;&lt;mrow&gt;&lt;mn&gt;1&lt;/mn&gt;&lt;mo&gt;+&lt;/mo&gt;&lt;mi&gt;&amp;#x3C4;&lt;/mi&gt;&lt;mi&gt;p&lt;/mi&gt;&lt;/mrow&gt;&lt;/mfrac&gt;&lt;/mstyle&gt;&lt;/math&gt;&quot;,&quot;truncated&quot;:false}" id="84" name="Google Shape;84;p14" title="numérateur de la fraction K au-dessus du dénominateur 1 plus tau p fin de la frac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467" y="4726846"/>
            <a:ext cx="623824" cy="4958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i&gt;&amp;#x3B5;&lt;/mi&gt;&lt;mfenced&gt;&lt;mi&gt;p&lt;/mi&gt;&lt;/mfenced&gt;&lt;/mstyle&gt;&lt;/math&gt;&quot;,&quot;truncated&quot;:false}" id="85" name="Google Shape;85;p14" title="epsilon ouvrir la parenthèse p fermer la parenthès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8024" y="4644476"/>
            <a:ext cx="467360" cy="180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i&gt;U&lt;/mi&gt;&lt;mi&gt;c&lt;/mi&gt;&lt;mfenced&gt;&lt;mi&gt;p&lt;/mi&gt;&lt;/mfenced&gt;&lt;/mstyle&gt;&lt;/math&gt;&quot;,&quot;truncated&quot;:false}" id="86" name="Google Shape;86;p14" title="U c ouvrir la parenthèse p fermer la parenthès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8829" y="4700499"/>
            <a:ext cx="613664" cy="180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U&lt;/mi&gt;&lt;mrow&gt;&lt;mi&gt;c&lt;/mi&gt;&lt;mi&gt;m&lt;/mi&gt;&lt;mi&gt;d&lt;/mi&gt;&lt;/mrow&gt;&lt;/msub&gt;&lt;mfenced&gt;&lt;mi&gt;p&lt;/mi&gt;&lt;/mfenced&gt;&lt;/mstyle&gt;&lt;/math&gt;&quot;,&quot;truncated&quot;:false}" id="87" name="Google Shape;87;p14" title="U indice c m d fin d'indice ouvrir la parenthèse p fermer la parenthès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8816" y="4678149"/>
            <a:ext cx="798576" cy="225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&amp;#x3A9;&lt;/mi&gt;&lt;mi&gt;m&lt;/mi&gt;&lt;/msub&gt;&lt;mfenced&gt;&lt;mi&gt;p&lt;/mi&gt;&lt;/mfenced&gt;&lt;/mstyle&gt;&lt;/math&gt;&quot;,&quot;truncated&quot;:false}" id="88" name="Google Shape;88;p14" title="omega majuscule indice m ouvrir la parenthèse p fermer la parenthès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97750" y="4622124"/>
            <a:ext cx="666496" cy="225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&amp;#x3A9;&lt;/mi&gt;&lt;mi&gt;c&lt;/mi&gt;&lt;/msub&gt;&lt;mfenced&gt;&lt;mi&gt;p&lt;/mi&gt;&lt;/mfenced&gt;&lt;/mstyle&gt;&lt;/math&gt;&quot;,&quot;truncated&quot;:false}" id="89" name="Google Shape;89;p14" title="omega majuscule indice c ouvrir la parenthèse p fermer la parenthès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2586" y="4679165"/>
            <a:ext cx="623824" cy="223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K&lt;/mi&gt;&lt;mi&gt;p&lt;/mi&gt;&lt;/msub&gt;&lt;/mstyle&gt;&lt;/math&gt;&quot;,&quot;truncated&quot;:false}" id="90" name="Google Shape;90;p14" title="K indice p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23365" y="4154632"/>
            <a:ext cx="247904" cy="2499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K&lt;/mi&gt;&lt;mi&gt;d&lt;/mi&gt;&lt;/msub&gt;&lt;mi&gt;p&lt;/mi&gt;&lt;/mstyle&gt;&lt;/math&gt;&quot;,&quot;truncated&quot;:false}" id="91" name="Google Shape;91;p14" title="K indice d p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67572" y="5501872"/>
            <a:ext cx="359664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frac&gt;&lt;msub&gt;&lt;mi&gt;K&lt;/mi&gt;&lt;mi&gt;i&lt;/mi&gt;&lt;/msub&gt;&lt;mi&gt;p&lt;/mi&gt;&lt;/mfrac&gt;&lt;/mstyle&gt;&lt;/math&gt;&quot;,&quot;truncated&quot;:false}" id="92" name="Google Shape;92;p14" title="K indice i sur p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884844" y="4686017"/>
            <a:ext cx="325120" cy="5344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4"/>
          <p:cNvCxnSpPr/>
          <p:nvPr/>
        </p:nvCxnSpPr>
        <p:spPr>
          <a:xfrm rot="10800000">
            <a:off x="4015504" y="5358400"/>
            <a:ext cx="3600" cy="284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4"/>
          <p:cNvSpPr/>
          <p:nvPr/>
        </p:nvSpPr>
        <p:spPr>
          <a:xfrm>
            <a:off x="3622354" y="4562788"/>
            <a:ext cx="795600" cy="795600"/>
          </a:xfrm>
          <a:prstGeom prst="flowChartSummingJunction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622354" y="4737475"/>
            <a:ext cx="7986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+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729329" y="4960588"/>
            <a:ext cx="688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  +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729329" y="4518288"/>
            <a:ext cx="688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  +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98" name="Google Shape;98;p14"/>
          <p:cNvCxnSpPr/>
          <p:nvPr/>
        </p:nvCxnSpPr>
        <p:spPr>
          <a:xfrm>
            <a:off x="2516754" y="4974800"/>
            <a:ext cx="3600" cy="658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4"/>
          <p:cNvCxnSpPr/>
          <p:nvPr/>
        </p:nvCxnSpPr>
        <p:spPr>
          <a:xfrm>
            <a:off x="2516754" y="4296100"/>
            <a:ext cx="3600" cy="658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4"/>
          <p:cNvCxnSpPr/>
          <p:nvPr/>
        </p:nvCxnSpPr>
        <p:spPr>
          <a:xfrm flipH="1" rot="10800000">
            <a:off x="2528565" y="4290100"/>
            <a:ext cx="2880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4"/>
          <p:cNvCxnSpPr/>
          <p:nvPr/>
        </p:nvCxnSpPr>
        <p:spPr>
          <a:xfrm flipH="1" rot="10800000">
            <a:off x="2528565" y="5636000"/>
            <a:ext cx="2880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4"/>
          <p:cNvCxnSpPr/>
          <p:nvPr/>
        </p:nvCxnSpPr>
        <p:spPr>
          <a:xfrm>
            <a:off x="3253467" y="4951425"/>
            <a:ext cx="3600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4"/>
          <p:cNvCxnSpPr/>
          <p:nvPr/>
        </p:nvCxnSpPr>
        <p:spPr>
          <a:xfrm rot="-5400000">
            <a:off x="3637567" y="5258000"/>
            <a:ext cx="3600" cy="76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4"/>
          <p:cNvCxnSpPr/>
          <p:nvPr/>
        </p:nvCxnSpPr>
        <p:spPr>
          <a:xfrm>
            <a:off x="4037617" y="4268000"/>
            <a:ext cx="3600" cy="30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4"/>
          <p:cNvCxnSpPr/>
          <p:nvPr/>
        </p:nvCxnSpPr>
        <p:spPr>
          <a:xfrm flipH="1" rot="-5400000">
            <a:off x="3650179" y="3883800"/>
            <a:ext cx="3600" cy="792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4"/>
          <p:cNvCxnSpPr/>
          <p:nvPr/>
        </p:nvCxnSpPr>
        <p:spPr>
          <a:xfrm>
            <a:off x="7341879" y="4962225"/>
            <a:ext cx="6588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4"/>
          <p:cNvSpPr/>
          <p:nvPr/>
        </p:nvSpPr>
        <p:spPr>
          <a:xfrm>
            <a:off x="2549198" y="2484313"/>
            <a:ext cx="442800" cy="61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8" name="Google Shape;108;p14"/>
          <p:cNvCxnSpPr/>
          <p:nvPr/>
        </p:nvCxnSpPr>
        <p:spPr>
          <a:xfrm>
            <a:off x="1775123" y="2770988"/>
            <a:ext cx="775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4"/>
          <p:cNvSpPr/>
          <p:nvPr/>
        </p:nvSpPr>
        <p:spPr>
          <a:xfrm>
            <a:off x="5235610" y="2462763"/>
            <a:ext cx="688800" cy="616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3765110" y="2338438"/>
            <a:ext cx="795600" cy="795600"/>
          </a:xfrm>
          <a:prstGeom prst="flowChartSummingJunction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765110" y="2513119"/>
            <a:ext cx="15030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+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5810" y="2279738"/>
            <a:ext cx="6549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  -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113" name="Google Shape;113;p14"/>
          <p:cNvCxnSpPr/>
          <p:nvPr/>
        </p:nvCxnSpPr>
        <p:spPr>
          <a:xfrm flipH="1" rot="10800000">
            <a:off x="4574124" y="2769186"/>
            <a:ext cx="6510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4"/>
          <p:cNvCxnSpPr/>
          <p:nvPr/>
        </p:nvCxnSpPr>
        <p:spPr>
          <a:xfrm>
            <a:off x="3000035" y="2769063"/>
            <a:ext cx="756000" cy="3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4"/>
          <p:cNvCxnSpPr/>
          <p:nvPr/>
        </p:nvCxnSpPr>
        <p:spPr>
          <a:xfrm flipH="1">
            <a:off x="4161110" y="1764950"/>
            <a:ext cx="3600" cy="558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mathml&quot;:&quot;&lt;math style=\&quot;font-family:stix;font-size:16px;\&quot; xmlns=\&quot;http://www.w3.org/1998/Math/MathML\&quot;&gt;&lt;mstyle mathsize=\&quot;16px\&quot;&gt;&lt;mfrac&gt;&lt;mi&gt;K&lt;/mi&gt;&lt;mrow&gt;&lt;mn&gt;1&lt;/mn&gt;&lt;mo&gt;+&lt;/mo&gt;&lt;mi&gt;&amp;#x3C4;&lt;/mi&gt;&lt;mi&gt;p&lt;/mi&gt;&lt;/mrow&gt;&lt;/mfrac&gt;&lt;/mstyle&gt;&lt;/math&gt;&quot;,&quot;truncated&quot;:false}" id="116" name="Google Shape;116;p14" title="numérateur de la fraction K au-dessus du dénominateur 1 plus tau p fin de la frac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098" y="2544609"/>
            <a:ext cx="623824" cy="4958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i&gt;U&lt;/mi&gt;&lt;mi&gt;c&lt;/mi&gt;&lt;mfenced&gt;&lt;mi&gt;p&lt;/mi&gt;&lt;/mfenced&gt;&lt;/mstyle&gt;&lt;/math&gt;&quot;,&quot;truncated&quot;:false}" id="117" name="Google Shape;117;p14" title="U c ouvrir la parenthèse p fermer la parenthès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1460" y="2518262"/>
            <a:ext cx="613664" cy="180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U&lt;/mi&gt;&lt;mrow&gt;&lt;mi&gt;c&lt;/mi&gt;&lt;mi&gt;m&lt;/mi&gt;&lt;mi&gt;d&lt;/mi&gt;&lt;/mrow&gt;&lt;/msub&gt;&lt;mfenced&gt;&lt;mi&gt;p&lt;/mi&gt;&lt;/mfenced&gt;&lt;/mstyle&gt;&lt;/math&gt;&quot;,&quot;truncated&quot;:false}" id="118" name="Google Shape;118;p14" title="U indice c m d fin d'indice ouvrir la parenthèse p fermer la parenthès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1447" y="2495912"/>
            <a:ext cx="798576" cy="225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&amp;#x3A9;&lt;/mi&gt;&lt;mi&gt;m&lt;/mi&gt;&lt;/msub&gt;&lt;mfenced&gt;&lt;mi&gt;p&lt;/mi&gt;&lt;/mfenced&gt;&lt;/mstyle&gt;&lt;/math&gt;&quot;,&quot;truncated&quot;:false}" id="119" name="Google Shape;119;p14" title="omega majuscule indice m ouvrir la parenthèse p fermer la parenthès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0381" y="2439887"/>
            <a:ext cx="666496" cy="225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&amp;#x3A9;&lt;/mi&gt;&lt;mi&gt;c&lt;/mi&gt;&lt;/msub&gt;&lt;mfenced&gt;&lt;mi&gt;p&lt;/mi&gt;&lt;/mfenced&gt;&lt;/mstyle&gt;&lt;/math&gt;&quot;,&quot;truncated&quot;:false}" id="120" name="Google Shape;120;p14" title="omega majuscule indice c ouvrir la parenthèse p fermer la parenthès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50817" y="2496928"/>
            <a:ext cx="623824" cy="2235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4"/>
          <p:cNvCxnSpPr/>
          <p:nvPr/>
        </p:nvCxnSpPr>
        <p:spPr>
          <a:xfrm>
            <a:off x="5934510" y="2779988"/>
            <a:ext cx="6588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4"/>
          <p:cNvSpPr txBox="1"/>
          <p:nvPr/>
        </p:nvSpPr>
        <p:spPr>
          <a:xfrm>
            <a:off x="2560900" y="3118063"/>
            <a:ext cx="361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Figure 1 : Schéma bloc en boucle ouverte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2560900" y="6144975"/>
            <a:ext cx="361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Figure 2 : Schéma bloc en boucle fermée avec PID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sub&gt;&lt;mi&gt;U&lt;/mi&gt;&lt;mi&gt;p&lt;/mi&gt;&lt;/msub&gt;&lt;mfenced&gt;&lt;mi&gt;p&lt;/mi&gt;&lt;/mfenced&gt;&lt;mo&gt;=&lt;/mo&gt;&lt;mi&gt;C&lt;/mi&gt;&lt;mi&gt;r&lt;/mi&gt;&lt;mfrac&gt;&lt;mn&gt;1&lt;/mn&gt;&lt;mrow&gt;&lt;mi&gt;K&lt;/mi&gt;&lt;msub&gt;&lt;mi&gt;J&lt;/mi&gt;&lt;mrow&gt;&lt;mi&gt;e&lt;/mi&gt;&lt;mi&gt;q&lt;/mi&gt;&lt;/mrow&gt;&lt;/msub&gt;&lt;mi&gt;p&lt;/mi&gt;&lt;/mrow&gt;&lt;/mfrac&gt;&lt;/mstyle&gt;&lt;/math&gt;&quot;,&quot;truncated&quot;:false}" id="124" name="Google Shape;124;p14" title="U indice p ouvrir la parenthèse p fermer la parenthèse égal à C r numérateur de la fraction 1 au-dessus du dénominateur K J indice e q fin d'indice p fin de la fraction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627088" y="3971409"/>
            <a:ext cx="1664208" cy="5506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U&lt;/mi&gt;&lt;mi&gt;p&lt;/mi&gt;&lt;/msub&gt;&lt;mfenced&gt;&lt;mi&gt;p&lt;/mi&gt;&lt;/mfenced&gt;&lt;mo&gt;=&lt;/mo&gt;&lt;mi&gt;C&lt;/mi&gt;&lt;mi&gt;r&lt;/mi&gt;&lt;mfrac&gt;&lt;mn&gt;1&lt;/mn&gt;&lt;mrow&gt;&lt;mi&gt;K&lt;/mi&gt;&lt;msub&gt;&lt;mi&gt;J&lt;/mi&gt;&lt;mrow&gt;&lt;mi&gt;e&lt;/mi&gt;&lt;mi&gt;q&lt;/mi&gt;&lt;/mrow&gt;&lt;/msub&gt;&lt;mi&gt;p&lt;/mi&gt;&lt;/mrow&gt;&lt;/mfrac&gt;&lt;/mstyle&gt;&lt;/math&gt;&quot;,&quot;truncated&quot;:false}" id="125" name="Google Shape;125;p14" title="U indice p ouvrir la parenthèse p fermer la parenthèse égal à C r numérateur de la fraction 1 au-dessus du dénominateur K J indice e q fin d'indice p fin de la fraction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27713" y="1850672"/>
            <a:ext cx="1664208" cy="5506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frac&gt;&lt;mn&gt;1&lt;/mn&gt;&lt;mi&gt;K&lt;/mi&gt;&lt;/mfrac&gt;&lt;/mstyle&gt;&lt;/math&gt;&quot;,&quot;truncated&quot;:false}" id="126" name="Google Shape;126;p14" title="1 sur K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46141" y="2553850"/>
            <a:ext cx="258064" cy="43281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>
            <p:ph type="ctrTitle"/>
          </p:nvPr>
        </p:nvSpPr>
        <p:spPr>
          <a:xfrm>
            <a:off x="227525" y="1284775"/>
            <a:ext cx="28404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Asservissement </a:t>
            </a:r>
            <a:endParaRPr b="1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Problématique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135" name="Google Shape;135;p15"/>
          <p:cNvSpPr txBox="1"/>
          <p:nvPr>
            <p:ph type="ctrTitle"/>
          </p:nvPr>
        </p:nvSpPr>
        <p:spPr>
          <a:xfrm>
            <a:off x="451350" y="3134250"/>
            <a:ext cx="8241300" cy="12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2100"/>
              <a:t>Comment l’utilisation de </a:t>
            </a:r>
            <a:r>
              <a:rPr b="1" lang="fr" sz="2100">
                <a:solidFill>
                  <a:srgbClr val="FF0000"/>
                </a:solidFill>
              </a:rPr>
              <a:t>cycles</a:t>
            </a:r>
            <a:r>
              <a:rPr b="1" lang="fr" sz="2100"/>
              <a:t> de mesure et de correction dans une </a:t>
            </a:r>
            <a:r>
              <a:rPr b="1" lang="fr" sz="2100">
                <a:solidFill>
                  <a:srgbClr val="FF0000"/>
                </a:solidFill>
              </a:rPr>
              <a:t>boucle</a:t>
            </a:r>
            <a:r>
              <a:rPr b="1" lang="fr" sz="2100"/>
              <a:t> de rétroaction permet-elle d’améliorer la précision et la stabilité du mouvement d’un robot ?</a:t>
            </a:r>
            <a:endParaRPr b="1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141" name="Google Shape;141;p16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Sommaire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2" name="Google Shape;142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143" name="Google Shape;143;p16"/>
          <p:cNvSpPr txBox="1"/>
          <p:nvPr>
            <p:ph type="ctrTitle"/>
          </p:nvPr>
        </p:nvSpPr>
        <p:spPr>
          <a:xfrm>
            <a:off x="1017450" y="1751125"/>
            <a:ext cx="7109100" cy="43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romanUcPeriod"/>
            </a:pPr>
            <a:r>
              <a:rPr b="1" lang="fr" sz="1500"/>
              <a:t>Présentation du système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i="1" lang="fr" sz="1500"/>
              <a:t>Robot et ses composants</a:t>
            </a:r>
            <a:endParaRPr b="1" i="1" sz="1500"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i="1" lang="fr" sz="1500"/>
              <a:t>Chaîne de commande et acquisition des données</a:t>
            </a:r>
            <a:endParaRPr b="1" i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romanUcPeriod"/>
            </a:pPr>
            <a:r>
              <a:rPr b="1" lang="fr" sz="1500"/>
              <a:t>Etude théorique 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i="1" lang="fr" sz="1500"/>
              <a:t>Modèles du moteur et de l’environnement simulé</a:t>
            </a:r>
            <a:endParaRPr b="1" i="1" sz="1500"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i="1" lang="fr" sz="1500"/>
              <a:t>Régulation PID et critères de performance</a:t>
            </a:r>
            <a:endParaRPr b="1" i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romanUcPeriod"/>
            </a:pPr>
            <a:r>
              <a:rPr b="1" lang="fr" sz="1500"/>
              <a:t> Résultats et analyse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i="1" lang="fr" sz="1500"/>
              <a:t>Simulation </a:t>
            </a:r>
            <a:endParaRPr b="1" i="1" sz="1500"/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i="1" lang="fr" sz="1500"/>
              <a:t>Expérimentations réelles</a:t>
            </a:r>
            <a:endParaRPr b="1" i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149" name="Google Shape;149;p17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romanUcPeriod"/>
            </a:pPr>
            <a:r>
              <a:rPr b="1" lang="fr">
                <a:solidFill>
                  <a:schemeClr val="lt1"/>
                </a:solidFill>
              </a:rPr>
              <a:t>Présentation du système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151" name="Google Shape;151;p17"/>
          <p:cNvSpPr txBox="1"/>
          <p:nvPr>
            <p:ph type="ctrTitle"/>
          </p:nvPr>
        </p:nvSpPr>
        <p:spPr>
          <a:xfrm>
            <a:off x="6168938" y="1866238"/>
            <a:ext cx="2400300" cy="26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500" u="sng"/>
              <a:t>Composants :</a:t>
            </a:r>
            <a:endParaRPr b="1" sz="15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fr" sz="1300"/>
              <a:t>4 moteurs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fr" sz="1300"/>
              <a:t>3 capteurs suiveurs de lignes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fr" sz="1300"/>
              <a:t>2 encodeurs  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fr" sz="1300"/>
              <a:t>2 microcontrôleurs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fr" sz="1300"/>
              <a:t>6 piles 1,5 V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fr" sz="1300"/>
              <a:t>1 pile 9V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fr" sz="1300"/>
              <a:t> bouton poussoir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fr" sz="1300"/>
              <a:t>1 module Bluetooth</a:t>
            </a:r>
            <a:endParaRPr b="1" sz="1300"/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 b="26600" l="28570" r="22245" t="27081"/>
          <a:stretch/>
        </p:blipFill>
        <p:spPr>
          <a:xfrm>
            <a:off x="602962" y="1866225"/>
            <a:ext cx="5272428" cy="37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2314275" y="5676613"/>
            <a:ext cx="18498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2"/>
                </a:solidFill>
              </a:rPr>
              <a:t>Figure 3 : photo du robot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159" name="Google Shape;159;p18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romanUcPeriod"/>
            </a:pPr>
            <a:r>
              <a:rPr b="1" lang="fr">
                <a:solidFill>
                  <a:schemeClr val="lt1"/>
                </a:solidFill>
              </a:rPr>
              <a:t>Présentation du système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0" name="Google Shape;160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279367" y="1807770"/>
            <a:ext cx="6848400" cy="1927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1279367" y="4045580"/>
            <a:ext cx="6848400" cy="1927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493707" y="1807770"/>
            <a:ext cx="4526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Chaîne d’information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1429176" y="4045580"/>
            <a:ext cx="3360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Chaîne d’énergie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1493376" y="3138963"/>
            <a:ext cx="1690500" cy="54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Capteurs suiveur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 ligne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1493376" y="2267863"/>
            <a:ext cx="1690500" cy="54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Encodeurs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incrémentaux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493376" y="2760469"/>
            <a:ext cx="1690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Acquérir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740594" y="2814020"/>
            <a:ext cx="16263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Traiter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881500" y="2796475"/>
            <a:ext cx="2204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Communication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3740594" y="2267863"/>
            <a:ext cx="1690500" cy="54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Microcontrôleur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Arduino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923656" y="2307388"/>
            <a:ext cx="1690500" cy="54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Module Bluetooth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923656" y="3138963"/>
            <a:ext cx="1690500" cy="54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</a:rPr>
              <a:t>Microcontrôleur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1493330" y="4952152"/>
            <a:ext cx="1690500" cy="54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Piles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3740480" y="4952152"/>
            <a:ext cx="1690500" cy="54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Moteurs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923656" y="4952152"/>
            <a:ext cx="1690500" cy="54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Roues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493330" y="4569788"/>
            <a:ext cx="1690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Alimentation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3740571" y="4569788"/>
            <a:ext cx="1690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Convertir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5923656" y="4569788"/>
            <a:ext cx="1690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Transmettre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179" name="Google Shape;179;p18"/>
          <p:cNvCxnSpPr/>
          <p:nvPr/>
        </p:nvCxnSpPr>
        <p:spPr>
          <a:xfrm>
            <a:off x="3194822" y="2557425"/>
            <a:ext cx="5571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8"/>
          <p:cNvCxnSpPr/>
          <p:nvPr/>
        </p:nvCxnSpPr>
        <p:spPr>
          <a:xfrm>
            <a:off x="925696" y="2392325"/>
            <a:ext cx="5571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8"/>
          <p:cNvCxnSpPr/>
          <p:nvPr/>
        </p:nvCxnSpPr>
        <p:spPr>
          <a:xfrm>
            <a:off x="925696" y="3245302"/>
            <a:ext cx="5571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5431165" y="2539302"/>
            <a:ext cx="4914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18"/>
          <p:cNvCxnSpPr/>
          <p:nvPr/>
        </p:nvCxnSpPr>
        <p:spPr>
          <a:xfrm>
            <a:off x="7614342" y="2392325"/>
            <a:ext cx="6315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18"/>
          <p:cNvCxnSpPr>
            <a:endCxn id="170" idx="1"/>
          </p:cNvCxnSpPr>
          <p:nvPr/>
        </p:nvCxnSpPr>
        <p:spPr>
          <a:xfrm flipH="1" rot="10800000">
            <a:off x="3194894" y="2541013"/>
            <a:ext cx="545700" cy="869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18"/>
          <p:cNvCxnSpPr/>
          <p:nvPr/>
        </p:nvCxnSpPr>
        <p:spPr>
          <a:xfrm>
            <a:off x="3194822" y="5223590"/>
            <a:ext cx="5571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18"/>
          <p:cNvCxnSpPr/>
          <p:nvPr/>
        </p:nvCxnSpPr>
        <p:spPr>
          <a:xfrm>
            <a:off x="5398405" y="5223590"/>
            <a:ext cx="5244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18"/>
          <p:cNvCxnSpPr/>
          <p:nvPr/>
        </p:nvCxnSpPr>
        <p:spPr>
          <a:xfrm>
            <a:off x="7614342" y="5058490"/>
            <a:ext cx="6222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8"/>
          <p:cNvCxnSpPr>
            <a:endCxn id="172" idx="1"/>
          </p:cNvCxnSpPr>
          <p:nvPr/>
        </p:nvCxnSpPr>
        <p:spPr>
          <a:xfrm>
            <a:off x="5431056" y="2839113"/>
            <a:ext cx="492600" cy="57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18"/>
          <p:cNvCxnSpPr/>
          <p:nvPr/>
        </p:nvCxnSpPr>
        <p:spPr>
          <a:xfrm>
            <a:off x="3922479" y="3415342"/>
            <a:ext cx="3300" cy="1530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18"/>
          <p:cNvCxnSpPr>
            <a:endCxn id="172" idx="1"/>
          </p:cNvCxnSpPr>
          <p:nvPr/>
        </p:nvCxnSpPr>
        <p:spPr>
          <a:xfrm flipH="1" rot="10800000">
            <a:off x="3933156" y="3412113"/>
            <a:ext cx="1990500" cy="13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18"/>
          <p:cNvSpPr txBox="1"/>
          <p:nvPr/>
        </p:nvSpPr>
        <p:spPr>
          <a:xfrm>
            <a:off x="5055200" y="3059913"/>
            <a:ext cx="965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ordres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3194868" y="4895050"/>
            <a:ext cx="5457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</a:rPr>
              <a:t>E</a:t>
            </a:r>
            <a:r>
              <a:rPr baseline="-25000" lang="fr" sz="1100">
                <a:solidFill>
                  <a:srgbClr val="000000"/>
                </a:solidFill>
              </a:rPr>
              <a:t>élec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5444679" y="4895050"/>
            <a:ext cx="557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</a:rPr>
              <a:t>E</a:t>
            </a:r>
            <a:r>
              <a:rPr baseline="-25000" lang="fr" sz="1100">
                <a:solidFill>
                  <a:srgbClr val="000000"/>
                </a:solidFill>
              </a:rPr>
              <a:t>méca</a:t>
            </a:r>
            <a:endParaRPr baseline="-25000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fr" sz="1100">
                <a:solidFill>
                  <a:srgbClr val="000000"/>
                </a:solidFill>
              </a:rPr>
              <a:t>de rotation</a:t>
            </a:r>
            <a:endParaRPr baseline="-25000" sz="1100">
              <a:solidFill>
                <a:srgbClr val="000000"/>
              </a:solidFill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615004" y="4729942"/>
            <a:ext cx="6315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000000"/>
                </a:solidFill>
              </a:rPr>
              <a:t>E</a:t>
            </a:r>
            <a:r>
              <a:rPr baseline="-25000" lang="fr" sz="1100">
                <a:solidFill>
                  <a:srgbClr val="000000"/>
                </a:solidFill>
              </a:rPr>
              <a:t>méca </a:t>
            </a:r>
            <a:endParaRPr baseline="-25000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fr" sz="1100">
                <a:solidFill>
                  <a:srgbClr val="000000"/>
                </a:solidFill>
              </a:rPr>
              <a:t>de translation</a:t>
            </a:r>
            <a:endParaRPr baseline="-25000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00">
              <a:solidFill>
                <a:srgbClr val="000000"/>
              </a:solidFill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728400" y="6088725"/>
            <a:ext cx="771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Figure 4 : Schéma topo fonctionnel du système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50100" y="1211900"/>
            <a:ext cx="441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97" name="Google Shape;197;p18"/>
          <p:cNvSpPr txBox="1"/>
          <p:nvPr>
            <p:ph type="ctrTitle"/>
          </p:nvPr>
        </p:nvSpPr>
        <p:spPr>
          <a:xfrm>
            <a:off x="227525" y="1284775"/>
            <a:ext cx="28404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Fonctionnement du système</a:t>
            </a:r>
            <a:endParaRPr b="1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/>
          <p:nvPr/>
        </p:nvSpPr>
        <p:spPr>
          <a:xfrm>
            <a:off x="412700" y="4671349"/>
            <a:ext cx="3535800" cy="135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4370750" y="4302751"/>
            <a:ext cx="4278900" cy="2189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romanUcPeriod" startAt="2"/>
            </a:pPr>
            <a:r>
              <a:rPr b="1" lang="fr">
                <a:solidFill>
                  <a:schemeClr val="lt1"/>
                </a:solidFill>
              </a:rPr>
              <a:t>Etude théorique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6" name="Google Shape;206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3951963" y="2134998"/>
            <a:ext cx="399600" cy="55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19"/>
          <p:cNvCxnSpPr/>
          <p:nvPr/>
        </p:nvCxnSpPr>
        <p:spPr>
          <a:xfrm>
            <a:off x="1058024" y="2402857"/>
            <a:ext cx="69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19"/>
          <p:cNvSpPr/>
          <p:nvPr/>
        </p:nvSpPr>
        <p:spPr>
          <a:xfrm>
            <a:off x="1757760" y="2042420"/>
            <a:ext cx="718200" cy="720900"/>
          </a:xfrm>
          <a:prstGeom prst="flowChartSummingJunction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1757760" y="2200689"/>
            <a:ext cx="13569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+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1884938" y="2402857"/>
            <a:ext cx="59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  -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212" name="Google Shape;212;p19"/>
          <p:cNvCxnSpPr/>
          <p:nvPr/>
        </p:nvCxnSpPr>
        <p:spPr>
          <a:xfrm flipH="1" rot="10800000">
            <a:off x="2115257" y="2763410"/>
            <a:ext cx="3300" cy="714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19"/>
          <p:cNvCxnSpPr/>
          <p:nvPr/>
        </p:nvCxnSpPr>
        <p:spPr>
          <a:xfrm>
            <a:off x="2478599" y="2392210"/>
            <a:ext cx="4647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19"/>
          <p:cNvSpPr/>
          <p:nvPr/>
        </p:nvSpPr>
        <p:spPr>
          <a:xfrm>
            <a:off x="2934226" y="2134998"/>
            <a:ext cx="621900" cy="55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" name="Google Shape;215;p19"/>
          <p:cNvCxnSpPr/>
          <p:nvPr/>
        </p:nvCxnSpPr>
        <p:spPr>
          <a:xfrm>
            <a:off x="3556054" y="2381745"/>
            <a:ext cx="3996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p19"/>
          <p:cNvSpPr/>
          <p:nvPr/>
        </p:nvSpPr>
        <p:spPr>
          <a:xfrm>
            <a:off x="5035850" y="2042409"/>
            <a:ext cx="718200" cy="720900"/>
          </a:xfrm>
          <a:prstGeom prst="flowChartSummingJunction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5035850" y="2200677"/>
            <a:ext cx="13569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+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5162870" y="1989222"/>
            <a:ext cx="59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5959"/>
                </a:solidFill>
              </a:rPr>
              <a:t>  -</a:t>
            </a:r>
            <a:endParaRPr sz="1800">
              <a:solidFill>
                <a:srgbClr val="595959"/>
              </a:solidFill>
            </a:endParaRPr>
          </a:p>
        </p:txBody>
      </p:sp>
      <p:cxnSp>
        <p:nvCxnSpPr>
          <p:cNvPr id="219" name="Google Shape;219;p19"/>
          <p:cNvCxnSpPr/>
          <p:nvPr/>
        </p:nvCxnSpPr>
        <p:spPr>
          <a:xfrm flipH="1" rot="10800000">
            <a:off x="5754094" y="2381707"/>
            <a:ext cx="6093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19"/>
          <p:cNvSpPr/>
          <p:nvPr/>
        </p:nvSpPr>
        <p:spPr>
          <a:xfrm>
            <a:off x="6366261" y="2134998"/>
            <a:ext cx="699900" cy="55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19"/>
          <p:cNvCxnSpPr/>
          <p:nvPr/>
        </p:nvCxnSpPr>
        <p:spPr>
          <a:xfrm>
            <a:off x="7068683" y="2392210"/>
            <a:ext cx="10173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mathml&quot;:&quot;&lt;math style=\&quot;font-family:stix;font-size:16px;\&quot; xmlns=\&quot;http://www.w3.org/1998/Math/MathML\&quot;&gt;&lt;mstyle mathsize=\&quot;16px\&quot;&gt;&lt;mfrac&gt;&lt;mn&gt;1&lt;/mn&gt;&lt;mrow&gt;&lt;msub&gt;&lt;mi&gt;J&lt;/mi&gt;&lt;mrow&gt;&lt;mi&gt;e&lt;/mi&gt;&lt;mi&gt;q&lt;/mi&gt;&lt;/mrow&gt;&lt;/msub&gt;&lt;mi&gt;p&lt;/mi&gt;&lt;/mrow&gt;&lt;/mfrac&gt;&lt;/mstyle&gt;&lt;/math&gt;&quot;,&quot;truncated&quot;:false}" id="222" name="Google Shape;222;p19" title="numérateur de la fraction 1 au-dessus du dénominateur J indice e q fin d'indice p fin de la fracti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209" y="2164821"/>
            <a:ext cx="443931" cy="49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frac&gt;&lt;mn&gt;1&lt;/mn&gt;&lt;mrow&gt;&lt;mi&gt;R&lt;/mi&gt;&lt;mo&gt;+&lt;/mo&gt;&lt;mi&gt;L&lt;/mi&gt;&lt;mi&gt;p&lt;/mi&gt;&lt;/mrow&gt;&lt;/mfrac&gt;&lt;/mstyle&gt;&lt;/math&gt;&quot;,&quot;truncated&quot;:false}" id="223" name="Google Shape;223;p19" title="numérateur de la fraction 1 au-dessus du dénominateur R plus L p fin de la fractio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4205" y="2185073"/>
            <a:ext cx="621871" cy="4584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9"/>
          <p:cNvCxnSpPr/>
          <p:nvPr/>
        </p:nvCxnSpPr>
        <p:spPr>
          <a:xfrm>
            <a:off x="4359462" y="2381745"/>
            <a:ext cx="6921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19"/>
          <p:cNvCxnSpPr/>
          <p:nvPr/>
        </p:nvCxnSpPr>
        <p:spPr>
          <a:xfrm flipH="1">
            <a:off x="5393297" y="1522786"/>
            <a:ext cx="3300" cy="505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19"/>
          <p:cNvCxnSpPr/>
          <p:nvPr/>
        </p:nvCxnSpPr>
        <p:spPr>
          <a:xfrm flipH="1" rot="10800000">
            <a:off x="2118507" y="3466822"/>
            <a:ext cx="16575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19"/>
          <p:cNvSpPr/>
          <p:nvPr/>
        </p:nvSpPr>
        <p:spPr>
          <a:xfrm>
            <a:off x="3406014" y="3167923"/>
            <a:ext cx="546000" cy="55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sub&gt;&lt;mi&gt;K&lt;/mi&gt;&lt;mi&gt;e&lt;/mi&gt;&lt;/msub&gt;&lt;/mstyle&gt;&lt;/math&gt;&quot;,&quot;truncated&quot;:false}" id="228" name="Google Shape;228;p19" title="K indice 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3168" y="3312104"/>
            <a:ext cx="291685" cy="2702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19"/>
          <p:cNvCxnSpPr/>
          <p:nvPr/>
        </p:nvCxnSpPr>
        <p:spPr>
          <a:xfrm>
            <a:off x="7546045" y="2402857"/>
            <a:ext cx="3300" cy="1073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19"/>
          <p:cNvCxnSpPr/>
          <p:nvPr/>
        </p:nvCxnSpPr>
        <p:spPr>
          <a:xfrm rot="10800000">
            <a:off x="3962812" y="3466822"/>
            <a:ext cx="3584700" cy="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mathml&quot;:&quot;&lt;math style=\&quot;font-family:stix;font-size:16px;\&quot; xmlns=\&quot;http://www.w3.org/1998/Math/MathML\&quot;&gt;&lt;mstyle mathsize=\&quot;16px\&quot;&gt;&lt;mi&gt;U&lt;/mi&gt;&lt;mi&gt;c&lt;/mi&gt;&lt;mfenced&gt;&lt;mi&gt;p&lt;/mi&gt;&lt;/mfenced&gt;&lt;/mstyle&gt;&lt;/math&gt;&quot;,&quot;truncated&quot;:false}" id="231" name="Google Shape;231;p19" title="U c ouvrir la parenthèse p fermer la parenthès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3753" y="2200688"/>
            <a:ext cx="553997" cy="163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i&gt;&amp;#x3B5;&lt;/mi&gt;&lt;mfenced&gt;&lt;mi&gt;p&lt;/mi&gt;&lt;/mfenced&gt;&lt;/mstyle&gt;&lt;/math&gt;&quot;,&quot;truncated&quot;:false}" id="232" name="Google Shape;232;p19" title="epsilon ouvrir la parenthèse p fermer la parenthès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94144" y="2200690"/>
            <a:ext cx="421918" cy="163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i&gt;I&lt;/mi&gt;&lt;mfenced&gt;&lt;mi&gt;p&lt;/mi&gt;&lt;/mfenced&gt;&lt;/mstyle&gt;&lt;/math&gt;&quot;,&quot;truncated&quot;:false}" id="233" name="Google Shape;233;p19" title="I ouvrir la parenthèse p fermer la parenthès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79386" y="2200690"/>
            <a:ext cx="403574" cy="163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C&lt;/mi&gt;&lt;mrow&gt;&lt;mi&gt;e&lt;/mi&gt;&lt;mi&gt;m&lt;/mi&gt;&lt;/mrow&gt;&lt;/msub&gt;&lt;mfenced&gt;&lt;mi&gt;p&lt;/mi&gt;&lt;/mfenced&gt;&lt;/mstyle&gt;&lt;/math&gt;&quot;,&quot;truncated&quot;:false}" id="234" name="Google Shape;234;p19" title="C indice e m fin d'indice ouvrir la parenthèse p fermer la parenthèse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35346" y="2134999"/>
            <a:ext cx="643884" cy="204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o&gt;&amp;#x2206;&lt;/mo&gt;&lt;mi&gt;C&lt;/mi&gt;&lt;mfenced&gt;&lt;mi&gt;p&lt;/mi&gt;&lt;/mfenced&gt;&lt;/mstyle&gt;&lt;/math&gt;&quot;,&quot;truncated&quot;:false}" id="235" name="Google Shape;235;p19" title="incrément C ouvrir la parenthèse p fermer la parenthèse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36835" y="2134999"/>
            <a:ext cx="658559" cy="163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C&lt;/mi&gt;&lt;mi&gt;r&lt;/mi&gt;&lt;/msub&gt;&lt;mfenced&gt;&lt;mi&gt;p&lt;/mi&gt;&lt;/mfenced&gt;&lt;/mstyle&gt;&lt;/math&gt;&quot;,&quot;truncated&quot;:false}" id="236" name="Google Shape;236;p19" title="C indice r ouvrir la parenthèse p fermer la parenthèse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33211" y="1673400"/>
            <a:ext cx="537487" cy="202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sub&gt;&lt;mi&gt;&amp;#x3A9;&lt;/mi&gt;&lt;mi&gt;m&lt;/mi&gt;&lt;/msub&gt;&lt;mfenced&gt;&lt;mi&gt;p&lt;/mi&gt;&lt;/mfenced&gt;&lt;/mstyle&gt;&lt;/math&gt;&quot;,&quot;truncated&quot;:false}" id="237" name="Google Shape;237;p19" title="omega majuscule indice m ouvrir la parenthèse p fermer la parenthèse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56844" y="2114747"/>
            <a:ext cx="601692" cy="204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i&gt;E&lt;/mi&gt;&lt;mfenced&gt;&lt;mi&gt;p&lt;/mi&gt;&lt;/mfenced&gt;&lt;/mstyle&gt;&lt;/math&gt;&quot;,&quot;truncated&quot;:false}" id="238" name="Google Shape;238;p19" title="E ouvrir la parenthèse p fermer la parenthèse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260169" y="3033146"/>
            <a:ext cx="454938" cy="16386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2210341" y="3912626"/>
            <a:ext cx="47232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Figure 5 : Schéma bloc d’un moteur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515127" y="5461159"/>
            <a:ext cx="27072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hypothèse de travail : 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i&gt;H&lt;/mi&gt;&lt;mfenced&gt;&lt;mi&gt;p&lt;/mi&gt;&lt;/mfenced&gt;&lt;mo&gt;=&lt;/mo&gt;&lt;mfrac&gt;&lt;mi&gt;K&lt;/mi&gt;&lt;mfenced&gt;&lt;mrow&gt;&lt;mn&gt;1&lt;/mn&gt;&lt;mo&gt;+&lt;/mo&gt;&lt;mi&gt;&amp;#x3C4;&lt;/mi&gt;&lt;mi&gt;p&lt;/mi&gt;&lt;/mrow&gt;&lt;/mfenced&gt;&lt;/mfrac&gt;&lt;/mstyle&gt;&lt;/math&gt;&quot;,&quot;truncated&quot;:false}" id="241" name="Google Shape;241;p19" title="H ouvrir la parenthèse p fermer la parenthèse égal à numérateur de la fraction K au-dessus du dénominateur ouvrir la parenthèse 1 plus tau p fermer la parenthèse fin de la fraction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476695" y="5461150"/>
            <a:ext cx="1330728" cy="416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i&gt;H&lt;/mi&gt;&lt;mfenced&gt;&lt;mi&gt;p&lt;/mi&gt;&lt;/mfenced&gt;&lt;mo&gt;=&lt;/mo&gt;&lt;mfrac&gt;&lt;mrow&gt;&lt;mn&gt;1&lt;/mn&gt;&lt;mo&gt;/&lt;/mo&gt;&lt;msub&gt;&lt;mi&gt;K&lt;/mi&gt;&lt;mi&gt;e&lt;/mi&gt;&lt;/msub&gt;&lt;/mrow&gt;&lt;mrow&gt;&lt;mn&gt;1&lt;/mn&gt;&lt;mo&gt;+&lt;/mo&gt;&lt;mfenced&gt;&lt;mrow&gt;&lt;mi&gt;R&lt;/mi&gt;&lt;msub&gt;&lt;mi&gt;J&lt;/mi&gt;&lt;mrow&gt;&lt;mi&gt;e&lt;/mi&gt;&lt;mi&gt;q&lt;/mi&gt;&lt;/mrow&gt;&lt;/msub&gt;&lt;mo&gt;/&lt;/mo&gt;&lt;msub&gt;&lt;mi&gt;K&lt;/mi&gt;&lt;mi&gt;t&lt;/mi&gt;&lt;/msub&gt;&lt;msub&gt;&lt;mi&gt;K&lt;/mi&gt;&lt;mi&gt;e&lt;/mi&gt;&lt;/msub&gt;&lt;/mrow&gt;&lt;/mfenced&gt;&lt;mi&gt;p&lt;/mi&gt;&lt;mo&gt;+&lt;/mo&gt;&lt;mfenced&gt;&lt;mrow&gt;&lt;mi&gt;L&lt;/mi&gt;&lt;msub&gt;&lt;mi&gt;J&lt;/mi&gt;&lt;mrow&gt;&lt;mi&gt;e&lt;/mi&gt;&lt;mi&gt;q&lt;/mi&gt;&lt;/mrow&gt;&lt;/msub&gt;&lt;mo&gt;/&lt;/mo&gt;&lt;msub&gt;&lt;mi&gt;K&lt;/mi&gt;&lt;mi&gt;t&lt;/mi&gt;&lt;/msub&gt;&lt;msub&gt;&lt;mi&gt;K&lt;/mi&gt;&lt;mi&gt;e&lt;/mi&gt;&lt;/msub&gt;&lt;/mrow&gt;&lt;/mfenced&gt;&lt;msup&gt;&lt;mi&gt;p&lt;/mi&gt;&lt;mn&gt;2&lt;/mn&gt;&lt;/msup&gt;&lt;/mrow&gt;&lt;/mfrac&gt;&lt;/mstyle&gt;&lt;/math&gt;&quot;,&quot;truncated&quot;:false}" id="242" name="Google Shape;242;p19" title="H ouvrir la parenthèse p fermer la parenthèse égal à numérateur de la fraction 1 divisé par K indice e au-dessus du dénominateur 1 plus ouvrir la parenthèse R J indice e q fin d'indice divisé par K indice t K indice e fermer la parenthèse p plus ouvrir la parenthèse L J indice e q fin d'indice divisé par K indice t K indice e fermer la parenthèse p au carré fin de la fraction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79575" y="4828048"/>
            <a:ext cx="3371524" cy="55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frac&gt;&lt;mrow&gt;&lt;mo&gt;d&lt;/mo&gt;&lt;msub&gt;&lt;mi&gt;&amp;#x3C9;&lt;/mi&gt;&lt;mi&gt;m&lt;/mi&gt;&lt;/msub&gt;&lt;/mrow&gt;&lt;mrow&gt;&lt;mo&gt;d&lt;/mo&gt;&lt;mi&gt;t&lt;/mi&gt;&lt;/mrow&gt;&lt;/mfrac&gt;&lt;mo&gt;+&lt;/mo&gt;&lt;mfrac&gt;&lt;mn&gt;1&lt;/mn&gt;&lt;mi&gt;&amp;#x3C4;&lt;/mi&gt;&lt;/mfrac&gt;&lt;msub&gt;&lt;mi&gt;&amp;#x3C9;&lt;/mi&gt;&lt;mi&gt;m&lt;/mi&gt;&lt;/msub&gt;&lt;mo&gt;=&lt;/mo&gt;&lt;mfrac&gt;&lt;mi&gt;K&lt;/mi&gt;&lt;mi&gt;&amp;#x3C4;&lt;/mi&gt;&lt;/mfrac&gt;&lt;msub&gt;&lt;mi&gt;U&lt;/mi&gt;&lt;mi&gt;c&lt;/mi&gt;&lt;/msub&gt;&lt;/mstyle&gt;&lt;/math&gt;&quot;,&quot;truncated&quot;:false}" id="243" name="Google Shape;243;p19" title="numérateur de la fraction d omega indice m au-dessus du dénominateur d t fin de la fraction plus 1 sur tau omega indice m égal à K sur tau U indice c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754521" y="4583501"/>
            <a:ext cx="1677308" cy="44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464200" y="5627238"/>
            <a:ext cx="4091999" cy="34307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9"/>
          <p:cNvSpPr txBox="1"/>
          <p:nvPr/>
        </p:nvSpPr>
        <p:spPr>
          <a:xfrm>
            <a:off x="4464200" y="6003100"/>
            <a:ext cx="40920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Figure 6 : programme de calcul de la réponse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par la méthode d’Euler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6" name="Google Shape;246;p19"/>
          <p:cNvSpPr txBox="1"/>
          <p:nvPr>
            <p:ph type="ctrTitle"/>
          </p:nvPr>
        </p:nvSpPr>
        <p:spPr>
          <a:xfrm>
            <a:off x="227525" y="1284775"/>
            <a:ext cx="28404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Modèle moteur </a:t>
            </a:r>
            <a:endParaRPr b="1" sz="1500"/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sub&gt;&lt;mi&gt;K&lt;/mi&gt;&lt;mi&gt;t&lt;/mi&gt;&lt;/msub&gt;&lt;/mstyle&gt;&lt;/math&gt;&quot;,&quot;truncated&quot;:false}" id="247" name="Google Shape;247;p19" title="K indice t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050870" y="2292179"/>
            <a:ext cx="213360" cy="219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253" name="Google Shape;253;p20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romanUcPeriod" startAt="2"/>
            </a:pPr>
            <a:r>
              <a:rPr b="1" lang="fr">
                <a:solidFill>
                  <a:schemeClr val="lt1"/>
                </a:solidFill>
              </a:rPr>
              <a:t>Etude théorique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4" name="Google Shape;254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pic>
        <p:nvPicPr>
          <p:cNvPr id="255" name="Google Shape;2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080" y="2331301"/>
            <a:ext cx="7345846" cy="2945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 txBox="1"/>
          <p:nvPr/>
        </p:nvSpPr>
        <p:spPr>
          <a:xfrm>
            <a:off x="899100" y="5403950"/>
            <a:ext cx="73458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Figure 7 : Programme de changement de consigne et de génération de perturbations en fonction de la position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57" name="Google Shape;257;p20"/>
          <p:cNvSpPr txBox="1"/>
          <p:nvPr>
            <p:ph type="ctrTitle"/>
          </p:nvPr>
        </p:nvSpPr>
        <p:spPr>
          <a:xfrm>
            <a:off x="227525" y="1284775"/>
            <a:ext cx="28404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Simulation des perturbations</a:t>
            </a:r>
            <a:endParaRPr b="1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263" name="Google Shape;263;p21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romanUcPeriod" startAt="2"/>
            </a:pPr>
            <a:r>
              <a:rPr b="1" lang="fr">
                <a:solidFill>
                  <a:schemeClr val="lt1"/>
                </a:solidFill>
              </a:rPr>
              <a:t>Etude théorique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4" name="Google Shape;264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265" name="Google Shape;265;p21"/>
          <p:cNvSpPr txBox="1"/>
          <p:nvPr>
            <p:ph type="ctrTitle"/>
          </p:nvPr>
        </p:nvSpPr>
        <p:spPr>
          <a:xfrm>
            <a:off x="227525" y="1399663"/>
            <a:ext cx="4243200" cy="428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P : Corrige proportionnellement à l’erreur instantanée</a:t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I: Corrige l’erreur cumulée dans le temps </a:t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D: Anticipe les variations de l’erreur, amortit les oscillations</a:t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IAE : Mesure l’écart total entre la consigne et la réponse, sans tenir compte du signe.</a:t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ISE  : Pénalise fortement les grandes erreurs.</a:t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ITAE  : Pénalise les erreurs qui durent longtemps.</a:t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ITSE : Pénalise encore plus les grandes erreurs persistantes.</a:t>
            </a:r>
            <a:endParaRPr sz="1300"/>
          </a:p>
        </p:txBody>
      </p:sp>
      <p:pic>
        <p:nvPicPr>
          <p:cNvPr descr="{&quot;mathml&quot;:&quot;&lt;math style=\&quot;font-family:stix;font-size:16px;\&quot; xmlns=\&quot;http://www.w3.org/1998/Math/MathML\&quot;&gt;&lt;mstyle mathsize=\&quot;16px\&quot;&gt;&lt;mi&gt;I&lt;/mi&gt;&lt;mi&gt;A&lt;/mi&gt;&lt;mi&gt;E&lt;/mi&gt;&lt;mo&gt;=&lt;/mo&gt;&lt;msubsup&gt;&lt;mo&gt;&amp;#x222B;&lt;/mo&gt;&lt;mn&gt;0&lt;/mn&gt;&lt;mo&gt;&amp;#x221E;&lt;/mo&gt;&lt;/msubsup&gt;&lt;mfenced open=\&quot;|\&quot; close=\&quot;|\&quot;&gt;&lt;mrow&gt;&lt;mi&gt;&amp;#x3B5;&lt;/mi&gt;&lt;mfenced&gt;&lt;mi&gt;t&lt;/mi&gt;&lt;/mfenced&gt;&lt;/mrow&gt;&lt;/mfenced&gt;&lt;mo&gt;d&lt;/mo&gt;&lt;mi&gt;t&lt;/mi&gt;&lt;/mstyle&gt;&lt;/math&gt;&quot;,&quot;truncated&quot;:false}" id="266" name="Google Shape;266;p21" title="I A E égal à intégrale indice 0 exposant infini trait vertical ouvert(e) epsilon ouvrir la parenthèse t fermer la parenthèse trait vertical fermé(e) d 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8012" y="1414513"/>
            <a:ext cx="1761997" cy="568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i&gt;I&lt;/mi&gt;&lt;mi&gt;S&lt;/mi&gt;&lt;mi&gt;E&lt;/mi&gt;&lt;mo&gt;=&lt;/mo&gt;&lt;msubsup&gt;&lt;mo&gt;&amp;#x222B;&lt;/mo&gt;&lt;mn&gt;0&lt;/mn&gt;&lt;mo&gt;&amp;#x221E;&lt;/mo&gt;&lt;/msubsup&gt;&lt;mi&gt;&amp;#x3B5;&lt;/mi&gt;&lt;msup&gt;&lt;mfenced&gt;&lt;mi&gt;t&lt;/mi&gt;&lt;/mfenced&gt;&lt;mn&gt;2&lt;/mn&gt;&lt;/msup&gt;&lt;mo&gt;d&lt;/mo&gt;&lt;mi&gt;t&lt;/mi&gt;&lt;/mstyle&gt;&lt;/math&gt;&quot;,&quot;truncated&quot;:false}" id="267" name="Google Shape;267;p21" title="I S E égal à intégrale indice 0 exposant infini epsilon ouvrir la parenthèse t fermer la parenthèse au carré d 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4776" y="2336175"/>
            <a:ext cx="1771625" cy="56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i&gt;I&lt;/mi&gt;&lt;mi&gt;T&lt;/mi&gt;&lt;mi&gt;S&lt;/mi&gt;&lt;mi&gt;E&lt;/mi&gt;&lt;mo&gt;=&lt;/mo&gt;&lt;msubsup&gt;&lt;mo&gt;&amp;#x222B;&lt;/mo&gt;&lt;mn&gt;0&lt;/mn&gt;&lt;mo&gt;&amp;#x221E;&lt;/mo&gt;&lt;/msubsup&gt;&lt;mi&gt;t&lt;/mi&gt;&lt;mi&gt;&amp;#x3B5;&lt;/mi&gt;&lt;msup&gt;&lt;mfenced&gt;&lt;mi&gt;t&lt;/mi&gt;&lt;/mfenced&gt;&lt;mn&gt;2&lt;/mn&gt;&lt;/msup&gt;&lt;mo&gt;d&lt;/mo&gt;&lt;mi&gt;t&lt;/mi&gt;&lt;/mstyle&gt;&lt;/math&gt;&quot;,&quot;truncated&quot;:false}" id="268" name="Google Shape;268;p21" title="I T S E égal à intégrale indice 0 exposant infini t epsilon ouvrir la parenthèse t fermer la parenthèse au carré d 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7025" y="4062396"/>
            <a:ext cx="1687094" cy="568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mathml&quot;:&quot;&lt;math style=\&quot;font-family:stix;font-size:16px;\&quot; xmlns=\&quot;http://www.w3.org/1998/Math/MathML\&quot;&gt;&lt;mstyle mathsize=\&quot;16px\&quot;&gt;&lt;mi&gt;I&lt;/mi&gt;&lt;mi&gt;T&lt;/mi&gt;&lt;mi&gt;A&lt;/mi&gt;&lt;mi&gt;E&lt;/mi&gt;&lt;mo&gt;=&lt;/mo&gt;&lt;msubsup&gt;&lt;mo&gt;&amp;#x222B;&lt;/mo&gt;&lt;mn&gt;0&lt;/mn&gt;&lt;mo&gt;&amp;#x221E;&lt;/mo&gt;&lt;/msubsup&gt;&lt;mi&gt;t&lt;/mi&gt;&lt;mfenced open=\&quot;|\&quot; close=\&quot;|\&quot;&gt;&lt;mrow&gt;&lt;mi&gt;&amp;#x3B5;&lt;/mi&gt;&lt;mfenced&gt;&lt;mi&gt;t&lt;/mi&gt;&lt;/mfenced&gt;&lt;/mrow&gt;&lt;/mfenced&gt;&lt;mo&gt;d&lt;/mo&gt;&lt;mi&gt;t&lt;/mi&gt;&lt;/mstyle&gt;&lt;/math&gt;&quot;,&quot;truncated&quot;:false}" id="269" name="Google Shape;269;p21" title="I T A E égal à intégrale indice 0 exposant infini t trait vertical ouvert(e) epsilon ouvrir la parenthèse t fermer la parenthèse trait vertical fermé(e) d 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4755" y="3257849"/>
            <a:ext cx="1771632" cy="56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25838" y="4866913"/>
            <a:ext cx="3700463" cy="61075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4925825" y="5592800"/>
            <a:ext cx="37005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Figure 8 : Programme de calcul des critères de performance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72" name="Google Shape;272;p21"/>
          <p:cNvSpPr txBox="1"/>
          <p:nvPr>
            <p:ph type="ctrTitle"/>
          </p:nvPr>
        </p:nvSpPr>
        <p:spPr>
          <a:xfrm>
            <a:off x="227525" y="1284775"/>
            <a:ext cx="28404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Régulation PID</a:t>
            </a:r>
            <a:endParaRPr b="1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/>
          <p:nvPr/>
        </p:nvSpPr>
        <p:spPr>
          <a:xfrm>
            <a:off x="14100" y="6275"/>
            <a:ext cx="9144000" cy="11355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278" name="Google Shape;278;p22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8775" lvl="0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romanUcPeriod" startAt="3"/>
            </a:pPr>
            <a:r>
              <a:rPr lang="fr">
                <a:solidFill>
                  <a:schemeClr val="lt1"/>
                </a:solidFill>
              </a:rPr>
              <a:t>Résultats et analyse</a:t>
            </a:r>
            <a:endParaRPr sz="4500">
              <a:solidFill>
                <a:schemeClr val="lt1"/>
              </a:solidFill>
            </a:endParaRPr>
          </a:p>
        </p:txBody>
      </p:sp>
      <p:sp>
        <p:nvSpPr>
          <p:cNvPr id="279" name="Google Shape;279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pic>
        <p:nvPicPr>
          <p:cNvPr id="280" name="Google Shape;280;p22"/>
          <p:cNvPicPr preferRelativeResize="0"/>
          <p:nvPr/>
        </p:nvPicPr>
        <p:blipFill rotWithShape="1">
          <a:blip r:embed="rId3">
            <a:alphaModFix/>
          </a:blip>
          <a:srcRect b="0" l="0" r="0" t="8609"/>
          <a:stretch/>
        </p:blipFill>
        <p:spPr>
          <a:xfrm>
            <a:off x="1264275" y="2370551"/>
            <a:ext cx="6615449" cy="344607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>
            <p:ph type="ctrTitle"/>
          </p:nvPr>
        </p:nvSpPr>
        <p:spPr>
          <a:xfrm>
            <a:off x="227525" y="1284775"/>
            <a:ext cx="28404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Résultats de simulation</a:t>
            </a:r>
            <a:endParaRPr b="1" sz="1500"/>
          </a:p>
        </p:txBody>
      </p:sp>
      <p:pic>
        <p:nvPicPr>
          <p:cNvPr id="282" name="Google Shape;282;p22"/>
          <p:cNvPicPr preferRelativeResize="0"/>
          <p:nvPr/>
        </p:nvPicPr>
        <p:blipFill rotWithShape="1">
          <a:blip r:embed="rId3">
            <a:alphaModFix/>
          </a:blip>
          <a:srcRect b="93354" l="0" r="0" t="0"/>
          <a:stretch/>
        </p:blipFill>
        <p:spPr>
          <a:xfrm>
            <a:off x="1278375" y="5816625"/>
            <a:ext cx="6615449" cy="25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/>
          <p:cNvPicPr preferRelativeResize="0"/>
          <p:nvPr/>
        </p:nvPicPr>
        <p:blipFill rotWithShape="1">
          <a:blip r:embed="rId4">
            <a:alphaModFix/>
          </a:blip>
          <a:srcRect b="90506" l="0" r="45590" t="4997"/>
          <a:stretch/>
        </p:blipFill>
        <p:spPr>
          <a:xfrm>
            <a:off x="697425" y="2119950"/>
            <a:ext cx="4560377" cy="25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/>
          <p:cNvPicPr preferRelativeResize="0"/>
          <p:nvPr/>
        </p:nvPicPr>
        <p:blipFill rotWithShape="1">
          <a:blip r:embed="rId4">
            <a:alphaModFix/>
          </a:blip>
          <a:srcRect b="90506" l="48652" r="0" t="4997"/>
          <a:stretch/>
        </p:blipFill>
        <p:spPr>
          <a:xfrm>
            <a:off x="3975101" y="2119950"/>
            <a:ext cx="4303524" cy="25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/>
          <p:cNvPicPr preferRelativeResize="0"/>
          <p:nvPr/>
        </p:nvPicPr>
        <p:blipFill rotWithShape="1">
          <a:blip r:embed="rId4">
            <a:alphaModFix/>
          </a:blip>
          <a:srcRect b="45088" l="49386" r="45190" t="49081"/>
          <a:stretch/>
        </p:blipFill>
        <p:spPr>
          <a:xfrm>
            <a:off x="4441332" y="3836475"/>
            <a:ext cx="408952" cy="2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/>
          <p:nvPr/>
        </p:nvSpPr>
        <p:spPr>
          <a:xfrm>
            <a:off x="14100" y="6275"/>
            <a:ext cx="9144000" cy="11355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291" name="Google Shape;291;p23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8775" lvl="0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romanUcPeriod" startAt="3"/>
            </a:pPr>
            <a:r>
              <a:rPr b="1" lang="fr">
                <a:solidFill>
                  <a:schemeClr val="lt1"/>
                </a:solidFill>
              </a:rPr>
              <a:t>Résultats et analyse</a:t>
            </a:r>
            <a:endParaRPr b="1" sz="4500">
              <a:solidFill>
                <a:schemeClr val="lt1"/>
              </a:solidFill>
            </a:endParaRPr>
          </a:p>
        </p:txBody>
      </p:sp>
      <p:sp>
        <p:nvSpPr>
          <p:cNvPr id="292" name="Google Shape;292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pic>
        <p:nvPicPr>
          <p:cNvPr id="293" name="Google Shape;293;p23"/>
          <p:cNvPicPr preferRelativeResize="0"/>
          <p:nvPr/>
        </p:nvPicPr>
        <p:blipFill rotWithShape="1">
          <a:blip r:embed="rId3">
            <a:alphaModFix/>
          </a:blip>
          <a:srcRect b="9" l="0" r="0" t="7243"/>
          <a:stretch/>
        </p:blipFill>
        <p:spPr>
          <a:xfrm>
            <a:off x="3583975" y="1262625"/>
            <a:ext cx="4540300" cy="240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/>
          <p:cNvPicPr preferRelativeResize="0"/>
          <p:nvPr/>
        </p:nvPicPr>
        <p:blipFill rotWithShape="1">
          <a:blip r:embed="rId4">
            <a:alphaModFix/>
          </a:blip>
          <a:srcRect b="93964" l="0" r="0" t="0"/>
          <a:stretch/>
        </p:blipFill>
        <p:spPr>
          <a:xfrm>
            <a:off x="3134400" y="6516800"/>
            <a:ext cx="5539376" cy="1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3"/>
          <p:cNvPicPr preferRelativeResize="0"/>
          <p:nvPr/>
        </p:nvPicPr>
        <p:blipFill rotWithShape="1">
          <a:blip r:embed="rId3">
            <a:alphaModFix/>
          </a:blip>
          <a:srcRect b="92448" l="0" r="0" t="0"/>
          <a:stretch/>
        </p:blipFill>
        <p:spPr>
          <a:xfrm>
            <a:off x="2170825" y="3664584"/>
            <a:ext cx="7232351" cy="311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/>
          <p:cNvPicPr preferRelativeResize="0"/>
          <p:nvPr/>
        </p:nvPicPr>
        <p:blipFill rotWithShape="1">
          <a:blip r:embed="rId4">
            <a:alphaModFix/>
          </a:blip>
          <a:srcRect b="0" l="0" r="0" t="4997"/>
          <a:stretch/>
        </p:blipFill>
        <p:spPr>
          <a:xfrm>
            <a:off x="3506925" y="3974800"/>
            <a:ext cx="4694400" cy="254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3"/>
          <p:cNvPicPr preferRelativeResize="0"/>
          <p:nvPr/>
        </p:nvPicPr>
        <p:blipFill rotWithShape="1">
          <a:blip r:embed="rId4">
            <a:alphaModFix/>
          </a:blip>
          <a:srcRect b="90506" l="0" r="0" t="4997"/>
          <a:stretch/>
        </p:blipFill>
        <p:spPr>
          <a:xfrm>
            <a:off x="3556888" y="1216675"/>
            <a:ext cx="4694400" cy="1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3"/>
          <p:cNvPicPr preferRelativeResize="0"/>
          <p:nvPr/>
        </p:nvPicPr>
        <p:blipFill rotWithShape="1">
          <a:blip r:embed="rId4">
            <a:alphaModFix/>
          </a:blip>
          <a:srcRect b="45088" l="49386" r="45190" t="49081"/>
          <a:stretch/>
        </p:blipFill>
        <p:spPr>
          <a:xfrm>
            <a:off x="5776811" y="2325175"/>
            <a:ext cx="254552" cy="1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>
            <p:ph type="ctrTitle"/>
          </p:nvPr>
        </p:nvSpPr>
        <p:spPr>
          <a:xfrm>
            <a:off x="227525" y="1284775"/>
            <a:ext cx="28404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Résultats de simulation</a:t>
            </a:r>
            <a:endParaRPr b="1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/>
          <p:nvPr/>
        </p:nvSpPr>
        <p:spPr>
          <a:xfrm>
            <a:off x="14100" y="6275"/>
            <a:ext cx="9144000" cy="11355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305" name="Google Shape;305;p24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8775" lvl="0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romanUcPeriod" startAt="3"/>
            </a:pPr>
            <a:r>
              <a:rPr b="1" lang="fr">
                <a:solidFill>
                  <a:schemeClr val="lt1"/>
                </a:solidFill>
              </a:rPr>
              <a:t>Résultats et analyse</a:t>
            </a:r>
            <a:endParaRPr b="1" sz="4500">
              <a:solidFill>
                <a:schemeClr val="lt1"/>
              </a:solidFill>
            </a:endParaRPr>
          </a:p>
        </p:txBody>
      </p:sp>
      <p:sp>
        <p:nvSpPr>
          <p:cNvPr id="306" name="Google Shape;306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pic>
        <p:nvPicPr>
          <p:cNvPr id="307" name="Google Shape;307;p24"/>
          <p:cNvPicPr preferRelativeResize="0"/>
          <p:nvPr/>
        </p:nvPicPr>
        <p:blipFill rotWithShape="1">
          <a:blip r:embed="rId3">
            <a:alphaModFix/>
          </a:blip>
          <a:srcRect b="92891" l="0" r="0" t="0"/>
          <a:stretch/>
        </p:blipFill>
        <p:spPr>
          <a:xfrm>
            <a:off x="3665200" y="6496577"/>
            <a:ext cx="4694400" cy="19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4"/>
          <p:cNvPicPr preferRelativeResize="0"/>
          <p:nvPr/>
        </p:nvPicPr>
        <p:blipFill rotWithShape="1">
          <a:blip r:embed="rId4">
            <a:alphaModFix/>
          </a:blip>
          <a:srcRect b="95227" l="0" r="0" t="0"/>
          <a:stretch/>
        </p:blipFill>
        <p:spPr>
          <a:xfrm>
            <a:off x="3511350" y="3745077"/>
            <a:ext cx="4694401" cy="12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/>
          <p:cNvPicPr preferRelativeResize="0"/>
          <p:nvPr/>
        </p:nvPicPr>
        <p:blipFill rotWithShape="1">
          <a:blip r:embed="rId4">
            <a:alphaModFix/>
          </a:blip>
          <a:srcRect b="0" l="0" r="0" t="6629"/>
          <a:stretch/>
        </p:blipFill>
        <p:spPr>
          <a:xfrm>
            <a:off x="3511350" y="1284763"/>
            <a:ext cx="4694401" cy="246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4"/>
          <p:cNvPicPr preferRelativeResize="0"/>
          <p:nvPr/>
        </p:nvPicPr>
        <p:blipFill rotWithShape="1">
          <a:blip r:embed="rId3">
            <a:alphaModFix/>
          </a:blip>
          <a:srcRect b="0" l="0" r="0" t="6112"/>
          <a:stretch/>
        </p:blipFill>
        <p:spPr>
          <a:xfrm>
            <a:off x="3589000" y="3940275"/>
            <a:ext cx="4694400" cy="255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4"/>
          <p:cNvSpPr txBox="1"/>
          <p:nvPr>
            <p:ph type="ctrTitle"/>
          </p:nvPr>
        </p:nvSpPr>
        <p:spPr>
          <a:xfrm>
            <a:off x="227525" y="1284775"/>
            <a:ext cx="28404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Résultats de simulation</a:t>
            </a:r>
            <a:endParaRPr b="1"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5"/>
          <p:cNvSpPr/>
          <p:nvPr/>
        </p:nvSpPr>
        <p:spPr>
          <a:xfrm>
            <a:off x="14100" y="6275"/>
            <a:ext cx="9144000" cy="11355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317" name="Google Shape;317;p25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8775" lvl="0" marL="45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romanUcPeriod" startAt="3"/>
            </a:pPr>
            <a:r>
              <a:rPr b="1" lang="fr">
                <a:solidFill>
                  <a:schemeClr val="lt1"/>
                </a:solidFill>
              </a:rPr>
              <a:t>Résultats et analyse</a:t>
            </a:r>
            <a:endParaRPr b="1" sz="4500">
              <a:solidFill>
                <a:schemeClr val="lt1"/>
              </a:solidFill>
            </a:endParaRPr>
          </a:p>
        </p:txBody>
      </p:sp>
      <p:sp>
        <p:nvSpPr>
          <p:cNvPr id="318" name="Google Shape;318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pic>
        <p:nvPicPr>
          <p:cNvPr id="319" name="Google Shape;319;p25"/>
          <p:cNvPicPr preferRelativeResize="0"/>
          <p:nvPr/>
        </p:nvPicPr>
        <p:blipFill rotWithShape="1">
          <a:blip r:embed="rId3">
            <a:alphaModFix/>
          </a:blip>
          <a:srcRect b="94141" l="0" r="0" t="0"/>
          <a:stretch/>
        </p:blipFill>
        <p:spPr>
          <a:xfrm>
            <a:off x="3676450" y="3848710"/>
            <a:ext cx="4694400" cy="1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5"/>
          <p:cNvPicPr preferRelativeResize="0"/>
          <p:nvPr/>
        </p:nvPicPr>
        <p:blipFill rotWithShape="1">
          <a:blip r:embed="rId4">
            <a:alphaModFix/>
          </a:blip>
          <a:srcRect b="93816" l="0" r="0" t="0"/>
          <a:stretch/>
        </p:blipFill>
        <p:spPr>
          <a:xfrm>
            <a:off x="3676450" y="6517201"/>
            <a:ext cx="4694398" cy="1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5"/>
          <p:cNvPicPr preferRelativeResize="0"/>
          <p:nvPr/>
        </p:nvPicPr>
        <p:blipFill rotWithShape="1">
          <a:blip r:embed="rId3">
            <a:alphaModFix/>
          </a:blip>
          <a:srcRect b="0" l="0" r="0" t="5267"/>
          <a:stretch/>
        </p:blipFill>
        <p:spPr>
          <a:xfrm>
            <a:off x="3676450" y="1284787"/>
            <a:ext cx="4694400" cy="253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5"/>
          <p:cNvPicPr preferRelativeResize="0"/>
          <p:nvPr/>
        </p:nvPicPr>
        <p:blipFill rotWithShape="1">
          <a:blip r:embed="rId4">
            <a:alphaModFix/>
          </a:blip>
          <a:srcRect b="0" l="0" r="0" t="7697"/>
          <a:stretch/>
        </p:blipFill>
        <p:spPr>
          <a:xfrm>
            <a:off x="3569550" y="4040575"/>
            <a:ext cx="4968981" cy="2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 txBox="1"/>
          <p:nvPr>
            <p:ph type="ctrTitle"/>
          </p:nvPr>
        </p:nvSpPr>
        <p:spPr>
          <a:xfrm>
            <a:off x="227525" y="1284775"/>
            <a:ext cx="28404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Résultats de simulation</a:t>
            </a:r>
            <a:endParaRPr b="1"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329" name="Google Shape;329;p26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5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AutoNum type="romanUcPeriod" startAt="3"/>
            </a:pPr>
            <a:r>
              <a:rPr b="1" lang="fr">
                <a:solidFill>
                  <a:schemeClr val="lt1"/>
                </a:solidFill>
              </a:rPr>
              <a:t>Résultats et analyse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0" name="Google Shape;330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331" name="Google Shape;331;p26"/>
          <p:cNvSpPr txBox="1"/>
          <p:nvPr>
            <p:ph type="ctrTitle"/>
          </p:nvPr>
        </p:nvSpPr>
        <p:spPr>
          <a:xfrm>
            <a:off x="227525" y="1284775"/>
            <a:ext cx="28404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Expérimentations réelles</a:t>
            </a:r>
            <a:endParaRPr b="1" sz="1500"/>
          </a:p>
        </p:txBody>
      </p:sp>
      <p:pic>
        <p:nvPicPr>
          <p:cNvPr id="332" name="Google Shape;3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8950" y="3914225"/>
            <a:ext cx="4694402" cy="2441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6"/>
          <p:cNvPicPr preferRelativeResize="0"/>
          <p:nvPr/>
        </p:nvPicPr>
        <p:blipFill rotWithShape="1">
          <a:blip r:embed="rId3">
            <a:alphaModFix/>
          </a:blip>
          <a:srcRect b="57326" l="88846" r="1876" t="35959"/>
          <a:stretch/>
        </p:blipFill>
        <p:spPr>
          <a:xfrm>
            <a:off x="7725136" y="5978025"/>
            <a:ext cx="436887" cy="174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8949" y="6385700"/>
            <a:ext cx="4694399" cy="184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8950" y="1282102"/>
            <a:ext cx="4694401" cy="2404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6"/>
          <p:cNvPicPr preferRelativeResize="0"/>
          <p:nvPr/>
        </p:nvPicPr>
        <p:blipFill rotWithShape="1">
          <a:blip r:embed="rId3">
            <a:alphaModFix/>
          </a:blip>
          <a:srcRect b="57326" l="88846" r="1876" t="35959"/>
          <a:stretch/>
        </p:blipFill>
        <p:spPr>
          <a:xfrm>
            <a:off x="5349811" y="2184125"/>
            <a:ext cx="436887" cy="174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6"/>
          <p:cNvPicPr preferRelativeResize="0"/>
          <p:nvPr/>
        </p:nvPicPr>
        <p:blipFill rotWithShape="1">
          <a:blip r:embed="rId3">
            <a:alphaModFix/>
          </a:blip>
          <a:srcRect b="57326" l="88846" r="1876" t="35959"/>
          <a:stretch/>
        </p:blipFill>
        <p:spPr>
          <a:xfrm>
            <a:off x="7611600" y="2212490"/>
            <a:ext cx="408549" cy="163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6"/>
          <p:cNvPicPr preferRelativeResize="0"/>
          <p:nvPr/>
        </p:nvPicPr>
        <p:blipFill rotWithShape="1">
          <a:blip r:embed="rId3">
            <a:alphaModFix/>
          </a:blip>
          <a:srcRect b="57326" l="88846" r="1876" t="35959"/>
          <a:stretch/>
        </p:blipFill>
        <p:spPr>
          <a:xfrm>
            <a:off x="7583261" y="3277650"/>
            <a:ext cx="436887" cy="174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07499" y="3686637"/>
            <a:ext cx="4177300" cy="1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7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345" name="Google Shape;345;p27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Conclusion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46" name="Google Shape;346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347" name="Google Shape;347;p27"/>
          <p:cNvSpPr txBox="1"/>
          <p:nvPr>
            <p:ph type="ctrTitle"/>
          </p:nvPr>
        </p:nvSpPr>
        <p:spPr>
          <a:xfrm>
            <a:off x="321725" y="1503125"/>
            <a:ext cx="1951200" cy="15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fr" sz="1500"/>
              <a:t>Bilan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fr" sz="1500"/>
              <a:t>Limites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fr" sz="1500"/>
              <a:t>Perspectives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353" name="Google Shape;353;p28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54" name="Google Shape;354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355" name="Google Shape;355;p28"/>
          <p:cNvSpPr txBox="1"/>
          <p:nvPr>
            <p:ph type="ctrTitle"/>
          </p:nvPr>
        </p:nvSpPr>
        <p:spPr>
          <a:xfrm>
            <a:off x="227525" y="1284775"/>
            <a:ext cx="8085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1 : Programme Python simulation boucle ouverte</a:t>
            </a:r>
            <a:endParaRPr b="1" sz="1500"/>
          </a:p>
        </p:txBody>
      </p:sp>
      <p:pic>
        <p:nvPicPr>
          <p:cNvPr id="356" name="Google Shape;3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7375"/>
            <a:ext cx="4294853" cy="39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3518" y="1867375"/>
            <a:ext cx="4118399" cy="396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9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363" name="Google Shape;363;p29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4" name="Google Shape;364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365" name="Google Shape;365;p29"/>
          <p:cNvSpPr txBox="1"/>
          <p:nvPr>
            <p:ph type="ctrTitle"/>
          </p:nvPr>
        </p:nvSpPr>
        <p:spPr>
          <a:xfrm>
            <a:off x="227525" y="1284775"/>
            <a:ext cx="8085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2 : Programme Python simulation boucle fermée simple</a:t>
            </a:r>
            <a:endParaRPr b="1" sz="1500"/>
          </a:p>
        </p:txBody>
      </p:sp>
      <p:pic>
        <p:nvPicPr>
          <p:cNvPr id="366" name="Google Shape;3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7375"/>
            <a:ext cx="3628669" cy="48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469" y="1867375"/>
            <a:ext cx="4386589" cy="481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373" name="Google Shape;373;p30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4" name="Google Shape;374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375" name="Google Shape;375;p30"/>
          <p:cNvSpPr txBox="1"/>
          <p:nvPr>
            <p:ph type="ctrTitle"/>
          </p:nvPr>
        </p:nvSpPr>
        <p:spPr>
          <a:xfrm>
            <a:off x="227525" y="1284775"/>
            <a:ext cx="8085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3 : Programme Python simulation boucle fermée avec PID</a:t>
            </a:r>
            <a:endParaRPr b="1" sz="1500"/>
          </a:p>
        </p:txBody>
      </p:sp>
      <p:pic>
        <p:nvPicPr>
          <p:cNvPr id="376" name="Google Shape;3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7375"/>
            <a:ext cx="4403501" cy="4773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0"/>
          <p:cNvPicPr preferRelativeResize="0"/>
          <p:nvPr/>
        </p:nvPicPr>
        <p:blipFill rotWithShape="1">
          <a:blip r:embed="rId4">
            <a:alphaModFix/>
          </a:blip>
          <a:srcRect b="1849" l="0" r="0" t="-1850"/>
          <a:stretch/>
        </p:blipFill>
        <p:spPr>
          <a:xfrm>
            <a:off x="4737851" y="1868400"/>
            <a:ext cx="4283299" cy="41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383" name="Google Shape;383;p31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84" name="Google Shape;384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385" name="Google Shape;385;p31"/>
          <p:cNvSpPr txBox="1"/>
          <p:nvPr>
            <p:ph type="ctrTitle"/>
          </p:nvPr>
        </p:nvSpPr>
        <p:spPr>
          <a:xfrm>
            <a:off x="227525" y="1284775"/>
            <a:ext cx="8085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3 : Programme Python simulation boucle fermée avec PID</a:t>
            </a:r>
            <a:endParaRPr b="1" sz="1500"/>
          </a:p>
        </p:txBody>
      </p:sp>
      <p:pic>
        <p:nvPicPr>
          <p:cNvPr id="386" name="Google Shape;3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632" y="1868400"/>
            <a:ext cx="5378735" cy="48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2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392" name="Google Shape;392;p32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93" name="Google Shape;393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394" name="Google Shape;394;p32"/>
          <p:cNvSpPr txBox="1"/>
          <p:nvPr>
            <p:ph type="ctrTitle"/>
          </p:nvPr>
        </p:nvSpPr>
        <p:spPr>
          <a:xfrm>
            <a:off x="227525" y="1284775"/>
            <a:ext cx="86868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4 : Programme Python simulation boucle fermée avec PID avec filtre Kalman 1d</a:t>
            </a:r>
            <a:endParaRPr b="1" sz="1500"/>
          </a:p>
        </p:txBody>
      </p:sp>
      <p:pic>
        <p:nvPicPr>
          <p:cNvPr id="395" name="Google Shape;3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200" y="1868400"/>
            <a:ext cx="2986187" cy="48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086" y="1868400"/>
            <a:ext cx="3338376" cy="483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3" name="Google Shape;403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04" name="Google Shape;404;p33"/>
          <p:cNvSpPr txBox="1"/>
          <p:nvPr>
            <p:ph type="ctrTitle"/>
          </p:nvPr>
        </p:nvSpPr>
        <p:spPr>
          <a:xfrm>
            <a:off x="227525" y="1284775"/>
            <a:ext cx="86868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4 : Programme Python simulation boucle fermée avec PID avec filtre Kalman 1d</a:t>
            </a:r>
            <a:endParaRPr b="1" sz="1500"/>
          </a:p>
        </p:txBody>
      </p:sp>
      <p:pic>
        <p:nvPicPr>
          <p:cNvPr id="405" name="Google Shape;4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841" y="1867375"/>
            <a:ext cx="5224318" cy="48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11" name="Google Shape;411;p34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2" name="Google Shape;412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13" name="Google Shape;413;p34"/>
          <p:cNvSpPr txBox="1"/>
          <p:nvPr>
            <p:ph type="ctrTitle"/>
          </p:nvPr>
        </p:nvSpPr>
        <p:spPr>
          <a:xfrm>
            <a:off x="277200" y="1199475"/>
            <a:ext cx="8589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5 : Programme Python fonction </a:t>
            </a:r>
            <a:r>
              <a:rPr b="1" lang="fr" sz="1500"/>
              <a:t>simulation boucle fermée avec PID pour générations et tests de coefficients de PID </a:t>
            </a:r>
            <a:r>
              <a:rPr b="1" lang="fr" sz="1500"/>
              <a:t> </a:t>
            </a:r>
            <a:endParaRPr b="1" sz="1500"/>
          </a:p>
        </p:txBody>
      </p:sp>
      <p:pic>
        <p:nvPicPr>
          <p:cNvPr id="414" name="Google Shape;4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00" y="1868175"/>
            <a:ext cx="4398340" cy="468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140" y="1868400"/>
            <a:ext cx="4288460" cy="3552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5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21" name="Google Shape;421;p35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2" name="Google Shape;422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23" name="Google Shape;423;p35"/>
          <p:cNvSpPr txBox="1"/>
          <p:nvPr>
            <p:ph type="ctrTitle"/>
          </p:nvPr>
        </p:nvSpPr>
        <p:spPr>
          <a:xfrm>
            <a:off x="227525" y="1284775"/>
            <a:ext cx="8589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6 : Programme Python générations et tests de coefficients de PID </a:t>
            </a:r>
            <a:endParaRPr b="1" sz="1500"/>
          </a:p>
        </p:txBody>
      </p:sp>
      <p:pic>
        <p:nvPicPr>
          <p:cNvPr id="424" name="Google Shape;42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099" y="1867375"/>
            <a:ext cx="4649802" cy="48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30" name="Google Shape;430;p36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1" name="Google Shape;431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32" name="Google Shape;432;p36"/>
          <p:cNvSpPr txBox="1"/>
          <p:nvPr>
            <p:ph type="ctrTitle"/>
          </p:nvPr>
        </p:nvSpPr>
        <p:spPr>
          <a:xfrm>
            <a:off x="227525" y="1284775"/>
            <a:ext cx="8589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7 : Programme Python générations et tests de coefficients de PID en parallèle </a:t>
            </a:r>
            <a:endParaRPr b="1" sz="1500"/>
          </a:p>
        </p:txBody>
      </p:sp>
      <p:pic>
        <p:nvPicPr>
          <p:cNvPr id="433" name="Google Shape;4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7375"/>
            <a:ext cx="4000331" cy="294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131" y="1867375"/>
            <a:ext cx="4528928" cy="4197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7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40" name="Google Shape;440;p37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1" name="Google Shape;441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42" name="Google Shape;442;p37"/>
          <p:cNvSpPr txBox="1"/>
          <p:nvPr>
            <p:ph type="ctrTitle"/>
          </p:nvPr>
        </p:nvSpPr>
        <p:spPr>
          <a:xfrm>
            <a:off x="227525" y="1284775"/>
            <a:ext cx="8589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8 : Programme Python pour trier par ordre croissant les scores</a:t>
            </a:r>
            <a:endParaRPr b="1" sz="1500"/>
          </a:p>
        </p:txBody>
      </p:sp>
      <p:pic>
        <p:nvPicPr>
          <p:cNvPr id="443" name="Google Shape;44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1281" y="1867375"/>
            <a:ext cx="3881438" cy="48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8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49" name="Google Shape;449;p38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0" name="Google Shape;450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51" name="Google Shape;451;p38"/>
          <p:cNvSpPr txBox="1"/>
          <p:nvPr>
            <p:ph type="ctrTitle"/>
          </p:nvPr>
        </p:nvSpPr>
        <p:spPr>
          <a:xfrm>
            <a:off x="227525" y="1284775"/>
            <a:ext cx="8589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9 : Programme Python pour lire les mesures réelles sur un fichier</a:t>
            </a:r>
            <a:endParaRPr b="1" sz="1500"/>
          </a:p>
        </p:txBody>
      </p:sp>
      <p:pic>
        <p:nvPicPr>
          <p:cNvPr id="452" name="Google Shape;45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7375"/>
            <a:ext cx="4783516" cy="4356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316" y="1867375"/>
            <a:ext cx="3903284" cy="3347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9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59" name="Google Shape;459;p39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0" name="Google Shape;460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61" name="Google Shape;461;p39"/>
          <p:cNvSpPr txBox="1"/>
          <p:nvPr>
            <p:ph type="ctrTitle"/>
          </p:nvPr>
        </p:nvSpPr>
        <p:spPr>
          <a:xfrm>
            <a:off x="227525" y="1284775"/>
            <a:ext cx="8589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10 : Programme Arduino pour la motorisation en boucle ouverte</a:t>
            </a:r>
            <a:endParaRPr b="1" sz="1500"/>
          </a:p>
        </p:txBody>
      </p:sp>
      <p:pic>
        <p:nvPicPr>
          <p:cNvPr id="462" name="Google Shape;46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7867" y="1867375"/>
            <a:ext cx="4728265" cy="48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0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68" name="Google Shape;468;p40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9" name="Google Shape;469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70" name="Google Shape;470;p40"/>
          <p:cNvSpPr txBox="1"/>
          <p:nvPr>
            <p:ph type="ctrTitle"/>
          </p:nvPr>
        </p:nvSpPr>
        <p:spPr>
          <a:xfrm>
            <a:off x="227525" y="1284775"/>
            <a:ext cx="8589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11 : Programme Arduino pour les capteurs en boucle ouverte</a:t>
            </a:r>
            <a:endParaRPr b="1" sz="1500"/>
          </a:p>
        </p:txBody>
      </p:sp>
      <p:pic>
        <p:nvPicPr>
          <p:cNvPr id="471" name="Google Shape;4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7375"/>
            <a:ext cx="4473786" cy="483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986" y="1859475"/>
            <a:ext cx="3541471" cy="4361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1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78" name="Google Shape;478;p41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9" name="Google Shape;479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80" name="Google Shape;480;p41"/>
          <p:cNvSpPr txBox="1"/>
          <p:nvPr>
            <p:ph type="ctrTitle"/>
          </p:nvPr>
        </p:nvSpPr>
        <p:spPr>
          <a:xfrm>
            <a:off x="227525" y="1284775"/>
            <a:ext cx="8589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11 : Programme Arduino pour les capteurs en boucle ouverte</a:t>
            </a:r>
            <a:endParaRPr b="1" sz="1500"/>
          </a:p>
        </p:txBody>
      </p:sp>
      <p:pic>
        <p:nvPicPr>
          <p:cNvPr id="481" name="Google Shape;48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7375"/>
            <a:ext cx="4591409" cy="3925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5409" y="1868400"/>
            <a:ext cx="3423849" cy="4144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2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88" name="Google Shape;488;p42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89" name="Google Shape;489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90" name="Google Shape;490;p42"/>
          <p:cNvSpPr txBox="1"/>
          <p:nvPr>
            <p:ph type="ctrTitle"/>
          </p:nvPr>
        </p:nvSpPr>
        <p:spPr>
          <a:xfrm>
            <a:off x="227525" y="1284775"/>
            <a:ext cx="8589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12 : Programme Arduino pour la motorisation en boucle fermée avec/sans PID</a:t>
            </a:r>
            <a:endParaRPr b="1" sz="1500"/>
          </a:p>
        </p:txBody>
      </p:sp>
      <p:pic>
        <p:nvPicPr>
          <p:cNvPr id="491" name="Google Shape;49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612" y="1867375"/>
            <a:ext cx="3844777" cy="483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3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497" name="Google Shape;497;p43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98" name="Google Shape;498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300">
              <a:solidFill>
                <a:schemeClr val="dk1"/>
              </a:solidFill>
            </a:endParaRPr>
          </a:p>
        </p:txBody>
      </p:sp>
      <p:sp>
        <p:nvSpPr>
          <p:cNvPr id="499" name="Google Shape;499;p43"/>
          <p:cNvSpPr txBox="1"/>
          <p:nvPr>
            <p:ph type="ctrTitle"/>
          </p:nvPr>
        </p:nvSpPr>
        <p:spPr>
          <a:xfrm>
            <a:off x="227525" y="1284775"/>
            <a:ext cx="8589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13 : Programme Arduino pour les capteurs en boucle fermée avec PID </a:t>
            </a:r>
            <a:endParaRPr b="1" sz="1500"/>
          </a:p>
        </p:txBody>
      </p:sp>
      <p:pic>
        <p:nvPicPr>
          <p:cNvPr id="500" name="Google Shape;50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975" y="1868400"/>
            <a:ext cx="4005472" cy="48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347" y="1868400"/>
            <a:ext cx="3778969" cy="48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/>
          <p:nvPr/>
        </p:nvSpPr>
        <p:spPr>
          <a:xfrm>
            <a:off x="14100" y="6267"/>
            <a:ext cx="9144000" cy="11340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highlight>
                <a:srgbClr val="0000FF"/>
              </a:highlight>
            </a:endParaRPr>
          </a:p>
        </p:txBody>
      </p:sp>
      <p:sp>
        <p:nvSpPr>
          <p:cNvPr id="507" name="Google Shape;507;p44"/>
          <p:cNvSpPr txBox="1"/>
          <p:nvPr>
            <p:ph idx="1" type="subTitle"/>
          </p:nvPr>
        </p:nvSpPr>
        <p:spPr>
          <a:xfrm>
            <a:off x="105700" y="201467"/>
            <a:ext cx="85206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Annexes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8" name="Google Shape;508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1300">
                <a:solidFill>
                  <a:schemeClr val="dk1"/>
                </a:solidFill>
              </a:rPr>
              <a:t>‹#›</a:t>
            </a:fld>
            <a:endParaRPr sz="1600">
              <a:solidFill>
                <a:schemeClr val="dk1"/>
              </a:solidFill>
            </a:endParaRPr>
          </a:p>
        </p:txBody>
      </p:sp>
      <p:sp>
        <p:nvSpPr>
          <p:cNvPr id="509" name="Google Shape;509;p44"/>
          <p:cNvSpPr txBox="1"/>
          <p:nvPr>
            <p:ph type="ctrTitle"/>
          </p:nvPr>
        </p:nvSpPr>
        <p:spPr>
          <a:xfrm>
            <a:off x="227525" y="1284775"/>
            <a:ext cx="8589600" cy="43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Annexe 13 : Programme Arduino pour les capteurs en boucle fermée avec PID </a:t>
            </a:r>
            <a:endParaRPr b="1" sz="1500"/>
          </a:p>
        </p:txBody>
      </p:sp>
      <p:pic>
        <p:nvPicPr>
          <p:cNvPr id="510" name="Google Shape;5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775" y="1868400"/>
            <a:ext cx="3722235" cy="48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7985" y="1868400"/>
            <a:ext cx="3334453" cy="48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